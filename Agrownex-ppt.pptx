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6" r:id="rId5"/>
    <p:sldId id="265" r:id="rId6"/>
    <p:sldId id="269" r:id="rId7"/>
    <p:sldId id="267" r:id="rId8"/>
    <p:sldId id="268" r:id="rId9"/>
    <p:sldId id="271" r:id="rId10"/>
    <p:sldId id="273" r:id="rId11"/>
    <p:sldId id="276" r:id="rId12"/>
    <p:sldId id="274" r:id="rId13"/>
    <p:sldId id="275" r:id="rId14"/>
    <p:sldId id="282" r:id="rId15"/>
    <p:sldId id="277" r:id="rId16"/>
    <p:sldId id="278" r:id="rId17"/>
    <p:sldId id="283" r:id="rId18"/>
    <p:sldId id="284" r:id="rId19"/>
    <p:sldId id="280" r:id="rId20"/>
    <p:sldId id="279" r:id="rId21"/>
    <p:sldId id="281" r:id="rId22"/>
    <p:sldId id="270" r:id="rId23"/>
    <p:sldId id="272" r:id="rId24"/>
    <p:sldId id="26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5AD1-8F35-A5A7-B33C-69A27FCFE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41569-6BFD-4E70-53F9-B12FF4A4A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717E9-963C-B8D0-D229-CE4ECB564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18B7E-F314-F67E-8C7E-6F60BBCD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116F6-9041-C07B-BAC2-DB978B2D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72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6A632-A887-5C03-DE52-18A738D4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9ED8-508B-688C-7262-55228B785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7646E-DEE3-F4E3-3643-204911C1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562EF-B001-B9A1-1AF7-481F1878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C4917-6137-E682-A309-720936B6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0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E6C5E-CAD3-D54E-C7BD-E51BBD62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73939-C736-B6EF-234A-DD72B8A3D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DBF8D-C9DD-6662-4833-725AE6DFC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6CF60-D973-6AAD-3CAF-AF67080B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65BA5-29ED-9471-BC63-FBE90110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90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18B8-5043-C98A-0EF0-4320F762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FC05-EDB0-E726-E9B1-73EBF7388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3F225-54F1-CCBF-6BB1-3C7926331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92800-7C92-2FDE-1BC4-C0B12D20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21297-011C-0A25-2D3A-F3A61A50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B850B-E144-6892-D01D-CAA5D164F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5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07866-A310-9462-5D7E-B12196963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743CF-F3F1-C917-B72D-097809DA4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45A61-6CAD-025C-B2E2-E9533244E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2F26F-063A-6E84-F6AF-E7DEA066B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DB3EC6-445A-4C92-8D45-69357C801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9F399-A24A-6835-858D-3B4B18BC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6F6CA3-D373-BC40-0FAA-FC0748EB6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DFCAB-1317-BFB7-51AF-A8BF7E17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409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9734A-834B-140D-73ED-7332EE5C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631CF-9C70-5347-E44F-16F5609A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AD9F6-FF53-7240-89CB-07280678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C37AD-DFD8-71F0-95B3-C78A17A4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88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8F7A3-86E1-0246-1ADF-E6DAFBFA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939E4-5FE8-C7E9-E36A-2F142787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5C73F-EA8B-4F4B-CDF6-5320CD53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1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6C70-394A-EA1C-9C64-B783B736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4C283-5DF7-21C8-9BE1-220DDBC17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EFE2D-40D3-C661-E54A-A4920C79E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F7F12-9464-4ABD-6642-DF18E49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F5DE-8DF7-5CAE-C4BC-7E7F348BB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80ED6-5BA1-611D-2E2A-345D865D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17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3FEC-9ADB-1791-D25D-0D9D296C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1F366-0C58-ED2A-00DB-E93956058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C1788-4D17-07A0-89B7-895A14583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D5497-115B-C497-3E39-2BD03C2CD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8A828-38BB-1F84-E6CC-C85F6161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551A1-629D-0555-5A07-8744AFC6E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797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9454-3C05-FC81-3BE7-5A1C1C979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4D580-A084-BB76-E65C-12D797F7F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0FC12-6CD5-391F-A4D0-F43D2F24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9624D-93F8-1648-E20D-64E959046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2B368-0483-D689-ABBB-72F25875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22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BFFDC-D982-5895-31AE-9DBCDE3FF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4C760-EC0D-2C29-BC24-E622DB787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F1866-731D-9B8D-DFBD-D4422E27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5B300-7365-D00C-AA91-44440493D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CD7D8-DB47-8163-8012-453438F5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63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2A69A-C52F-20F9-DF8A-CCE1CC5B5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6FF4E-1B48-A816-7CE7-355781B16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16850-3CAB-0C90-2873-BC2BCB753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1AD5D-3F93-4C9E-B92C-B1F7AE1EACD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110C9-206B-0600-33D9-EE4037F88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B8083-E3B5-F0FC-C784-7EABBE3C0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ECA10-4CEF-483B-845D-08715456B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98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A601F-9EB8-203E-8CB2-455CCF88E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456" y="823007"/>
            <a:ext cx="9911444" cy="1207180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AGROWNEX-</a:t>
            </a:r>
            <a:r>
              <a:rPr lang="en-US" sz="4000" b="1" dirty="0"/>
              <a:t>AI System for Next-Gen Weather Insurance Pricing</a:t>
            </a:r>
            <a:br>
              <a:rPr lang="en-IN" b="1" dirty="0"/>
            </a:br>
            <a:endParaRPr lang="en-IN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920BA-A41D-2457-A7BE-A3875C6D6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8099" y="5842000"/>
            <a:ext cx="11985170" cy="1016000"/>
          </a:xfrm>
        </p:spPr>
        <p:txBody>
          <a:bodyPr>
            <a:normAutofit/>
          </a:bodyPr>
          <a:lstStyle/>
          <a:p>
            <a:r>
              <a:rPr lang="en-IN" sz="3200" b="1" dirty="0"/>
              <a:t>Dr. BR Ambedkar National Institute Of Technology , Jalandhar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694B3-E3D0-8F72-0FC2-197D7A362DC9}"/>
              </a:ext>
            </a:extLst>
          </p:cNvPr>
          <p:cNvSpPr txBox="1"/>
          <p:nvPr/>
        </p:nvSpPr>
        <p:spPr>
          <a:xfrm>
            <a:off x="2267830" y="1573029"/>
            <a:ext cx="716552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(Minor project presentation)</a:t>
            </a:r>
          </a:p>
          <a:p>
            <a:pPr algn="ctr"/>
            <a:r>
              <a:rPr lang="en-IN" sz="2400" dirty="0"/>
              <a:t>Presented By: </a:t>
            </a:r>
          </a:p>
          <a:p>
            <a:pPr algn="ctr"/>
            <a:r>
              <a:rPr lang="en-IN" sz="2400" dirty="0"/>
              <a:t>Shakti Prosad Dey (Roll No. 23124100)</a:t>
            </a:r>
          </a:p>
          <a:p>
            <a:pPr algn="ctr"/>
            <a:r>
              <a:rPr lang="en-IN" sz="2400" dirty="0"/>
              <a:t>Mohammad Aslam(Roll no: 23124065)</a:t>
            </a:r>
            <a:br>
              <a:rPr lang="en-IN" sz="3000" dirty="0"/>
            </a:br>
            <a:r>
              <a:rPr lang="en-IN" sz="2400" dirty="0"/>
              <a:t>Under the supervision of </a:t>
            </a:r>
          </a:p>
          <a:p>
            <a:pPr algn="ctr"/>
            <a:r>
              <a:rPr lang="en-IN" sz="2400" dirty="0" err="1"/>
              <a:t>Dr.</a:t>
            </a:r>
            <a:r>
              <a:rPr lang="en-IN" sz="2400" dirty="0"/>
              <a:t> Vijay Kumar</a:t>
            </a:r>
          </a:p>
          <a:p>
            <a:pPr algn="ctr"/>
            <a:r>
              <a:rPr lang="en-IN" sz="2400" i="0" dirty="0">
                <a:effectLst/>
                <a:latin typeface="ui-sans-serif"/>
              </a:rPr>
              <a:t>Associate Professor &amp; Head</a:t>
            </a:r>
            <a:endParaRPr lang="en-IN" sz="2400" dirty="0"/>
          </a:p>
          <a:p>
            <a:pPr algn="ctr"/>
            <a:r>
              <a:rPr lang="en-IN" sz="2400" dirty="0"/>
              <a:t>Department of Information Technology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EB1D88E-5004-9BB8-4E08-26BDA9D63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185" y="4264200"/>
            <a:ext cx="1476809" cy="147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07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FD4A-8CD0-6CE8-07A5-F87711C0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 of contents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53D18-8636-92E1-A31D-C1B114A80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IN" sz="1800" dirty="0">
                <a:latin typeface="OpenSauceOne-Regular"/>
              </a:rPr>
              <a:t>1.</a:t>
            </a:r>
            <a:r>
              <a:rPr lang="en-IN" sz="1800" b="0" i="0" u="none" strike="noStrike" baseline="0" dirty="0">
                <a:latin typeface="OpenSauceOne-Regular"/>
              </a:rPr>
              <a:t> </a:t>
            </a:r>
            <a:r>
              <a:rPr lang="en-IN" sz="1800" dirty="0">
                <a:latin typeface="OpenSauceOne-Regular"/>
              </a:rPr>
              <a:t>Project Objective</a:t>
            </a:r>
            <a:endParaRPr lang="en-IN" sz="1800" b="0" i="0" u="none" strike="noStrike" baseline="0" dirty="0">
              <a:latin typeface="OpenSauceOne-Regular"/>
            </a:endParaRPr>
          </a:p>
          <a:p>
            <a:pPr marL="0" indent="0" algn="l">
              <a:buNone/>
            </a:pPr>
            <a:r>
              <a:rPr lang="en-IN" sz="1800" dirty="0">
                <a:latin typeface="OpenSauceOne-Regular"/>
              </a:rPr>
              <a:t>2</a:t>
            </a:r>
            <a:r>
              <a:rPr lang="en-IN" sz="1800" b="0" i="0" u="none" strike="noStrike" baseline="0" dirty="0">
                <a:latin typeface="OpenSauceOne-Regular"/>
              </a:rPr>
              <a:t>.Why </a:t>
            </a:r>
            <a:r>
              <a:rPr lang="en-IN" sz="1800" b="0" i="0" u="none" strike="noStrike" baseline="0" dirty="0" err="1">
                <a:latin typeface="OpenSauceOne-Regular"/>
              </a:rPr>
              <a:t>Agrownex</a:t>
            </a:r>
            <a:r>
              <a:rPr lang="en-IN" sz="1800" b="0" i="0" u="none" strike="noStrike" baseline="0" dirty="0">
                <a:latin typeface="OpenSauceOne-Regular"/>
              </a:rPr>
              <a:t> matters?</a:t>
            </a:r>
          </a:p>
          <a:p>
            <a:pPr marL="0" indent="0" algn="l">
              <a:buNone/>
            </a:pPr>
            <a:r>
              <a:rPr lang="en-IN" sz="1800" b="0" i="0" u="none" strike="noStrike" baseline="0" dirty="0">
                <a:latin typeface="OpenSauceOne-Regular"/>
              </a:rPr>
              <a:t>3. Tools and Technologies</a:t>
            </a:r>
            <a:endParaRPr lang="en-US" sz="1800" b="0" i="0" u="none" strike="noStrike" baseline="0" dirty="0">
              <a:latin typeface="OpenSauceOne-Regular"/>
            </a:endParaRP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OpenSauceOne-Regular"/>
              </a:rPr>
              <a:t>4. </a:t>
            </a:r>
            <a:r>
              <a:rPr lang="en-US" sz="1800" dirty="0">
                <a:latin typeface="OpenSauceOne-Regular"/>
              </a:rPr>
              <a:t>Core Modules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OpenSauceOne-Regular"/>
              </a:rPr>
              <a:t>5.User workflow</a:t>
            </a:r>
          </a:p>
          <a:p>
            <a:pPr marL="0" indent="0" algn="l">
              <a:buNone/>
            </a:pPr>
            <a:r>
              <a:rPr lang="en-US" sz="1800" dirty="0">
                <a:latin typeface="OpenSauceOne-Regular"/>
              </a:rPr>
              <a:t>6</a:t>
            </a:r>
            <a:r>
              <a:rPr lang="en-US" sz="1800" b="0" i="0" u="none" strike="noStrike" baseline="0" dirty="0">
                <a:latin typeface="OpenSauceOne-Regular"/>
              </a:rPr>
              <a:t>. Challenges and Next Steps</a:t>
            </a:r>
          </a:p>
          <a:p>
            <a:pPr marL="0" indent="0" algn="l">
              <a:buNone/>
            </a:pPr>
            <a:r>
              <a:rPr lang="en-US" sz="1800" dirty="0">
                <a:latin typeface="OpenSauceOne-Regular"/>
              </a:rPr>
              <a:t>7.Initial implementation of </a:t>
            </a:r>
            <a:r>
              <a:rPr lang="en-US" sz="1800" dirty="0" err="1">
                <a:latin typeface="OpenSauceOne-Regular"/>
              </a:rPr>
              <a:t>Agrownex</a:t>
            </a:r>
            <a:endParaRPr lang="en-US" sz="1800" b="0" i="0" u="none" strike="noStrike" baseline="0" dirty="0">
              <a:latin typeface="OpenSauceOne-Regular"/>
            </a:endParaRPr>
          </a:p>
          <a:p>
            <a:pPr marL="0" indent="0" algn="l">
              <a:buNone/>
            </a:pPr>
            <a:r>
              <a:rPr lang="en-US" sz="1800" dirty="0">
                <a:latin typeface="OpenSauceOne-Regular"/>
              </a:rPr>
              <a:t>8. Market analysis</a:t>
            </a:r>
            <a:endParaRPr lang="en-US" sz="1800" b="0" i="0" u="none" strike="noStrike" baseline="0" dirty="0">
              <a:latin typeface="OpenSauceOne-Regular"/>
            </a:endParaRPr>
          </a:p>
          <a:p>
            <a:pPr marL="0" indent="0" algn="l">
              <a:buNone/>
            </a:pPr>
            <a:r>
              <a:rPr lang="en-IN" sz="1800" dirty="0">
                <a:latin typeface="OpenSauceOne-Regular"/>
              </a:rPr>
              <a:t>9</a:t>
            </a:r>
            <a:r>
              <a:rPr lang="en-IN" sz="1800" b="0" i="0" u="none" strike="noStrike" baseline="0" dirty="0">
                <a:latin typeface="OpenSauceOne-Regular"/>
              </a:rPr>
              <a:t>. 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057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6963-9C39-646B-3FB8-D9175DBF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  <a:endParaRPr lang="en-IN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334EB4-B334-9078-F5B9-6BF2BBBEBC47}"/>
              </a:ext>
            </a:extLst>
          </p:cNvPr>
          <p:cNvSpPr/>
          <p:nvPr/>
        </p:nvSpPr>
        <p:spPr>
          <a:xfrm>
            <a:off x="793790" y="152132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71BC59D-AA38-FFDF-7051-A22F10CF6C14}"/>
              </a:ext>
            </a:extLst>
          </p:cNvPr>
          <p:cNvSpPr/>
          <p:nvPr/>
        </p:nvSpPr>
        <p:spPr>
          <a:xfrm>
            <a:off x="793790" y="1913281"/>
            <a:ext cx="5486240" cy="457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5370031-1017-70A9-0241-31FDB58869F9}"/>
              </a:ext>
            </a:extLst>
          </p:cNvPr>
          <p:cNvSpPr/>
          <p:nvPr/>
        </p:nvSpPr>
        <p:spPr>
          <a:xfrm>
            <a:off x="793790" y="2024479"/>
            <a:ext cx="4195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Weather-Based Risk Analytics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0894F9F-65EE-2763-256F-02B9F45F0C97}"/>
              </a:ext>
            </a:extLst>
          </p:cNvPr>
          <p:cNvSpPr/>
          <p:nvPr/>
        </p:nvSpPr>
        <p:spPr>
          <a:xfrm>
            <a:off x="793790" y="2400436"/>
            <a:ext cx="54862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real-time weather forecasts, geolocation-based climate data, and comprehensive climatology charts to assess agricultural risk accurately.</a:t>
            </a:r>
            <a:endParaRPr lang="en-US" sz="1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69A141A-FE01-795B-6806-030AEBFF24E7}"/>
              </a:ext>
            </a:extLst>
          </p:cNvPr>
          <p:cNvSpPr/>
          <p:nvPr/>
        </p:nvSpPr>
        <p:spPr>
          <a:xfrm>
            <a:off x="7428548" y="14072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0B3EDEA-9426-DE9E-F247-0E2955907A04}"/>
              </a:ext>
            </a:extLst>
          </p:cNvPr>
          <p:cNvSpPr/>
          <p:nvPr/>
        </p:nvSpPr>
        <p:spPr>
          <a:xfrm>
            <a:off x="7201735" y="1913281"/>
            <a:ext cx="4783120" cy="457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5C55BE6-F372-1652-6735-7106A456D46C}"/>
              </a:ext>
            </a:extLst>
          </p:cNvPr>
          <p:cNvSpPr/>
          <p:nvPr/>
        </p:nvSpPr>
        <p:spPr>
          <a:xfrm>
            <a:off x="7344609" y="2056737"/>
            <a:ext cx="30119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AI-Assisted Guidance</a:t>
            </a:r>
            <a:endParaRPr lang="en-US" sz="2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6E5C200-3BB1-B02C-C7EB-7022529BA480}"/>
              </a:ext>
            </a:extLst>
          </p:cNvPr>
          <p:cNvSpPr/>
          <p:nvPr/>
        </p:nvSpPr>
        <p:spPr>
          <a:xfrm>
            <a:off x="7344609" y="2482623"/>
            <a:ext cx="464024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an intelligent chat assistant with voice and text support, offering instant answers to insurance queries with fallback resilience.</a:t>
            </a:r>
            <a:endParaRPr lang="en-US" sz="17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72716CC-5A4A-575E-D19A-44198B7CCEC2}"/>
              </a:ext>
            </a:extLst>
          </p:cNvPr>
          <p:cNvSpPr/>
          <p:nvPr/>
        </p:nvSpPr>
        <p:spPr>
          <a:xfrm>
            <a:off x="793790" y="40433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6C2F42B-92A2-02A6-498E-433F34CD9C70}"/>
              </a:ext>
            </a:extLst>
          </p:cNvPr>
          <p:cNvSpPr/>
          <p:nvPr/>
        </p:nvSpPr>
        <p:spPr>
          <a:xfrm>
            <a:off x="793790" y="4448711"/>
            <a:ext cx="5546625" cy="457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B42FBBF-90E1-99C7-4027-D8C56B090BEF}"/>
              </a:ext>
            </a:extLst>
          </p:cNvPr>
          <p:cNvSpPr/>
          <p:nvPr/>
        </p:nvSpPr>
        <p:spPr>
          <a:xfrm>
            <a:off x="793790" y="4526636"/>
            <a:ext cx="37261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Quote Generation</a:t>
            </a:r>
            <a:endParaRPr lang="en-US" sz="2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27BDE86-8CDA-9DDA-98AC-F5A02E3DBFEC}"/>
              </a:ext>
            </a:extLst>
          </p:cNvPr>
          <p:cNvSpPr/>
          <p:nvPr/>
        </p:nvSpPr>
        <p:spPr>
          <a:xfrm>
            <a:off x="793790" y="4952734"/>
            <a:ext cx="554662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insurance quote calculation by integrating weather data and risk models into an automated, user-friendly process.</a:t>
            </a:r>
            <a:endParaRPr lang="en-US" sz="17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673D70C-DB53-0F1B-4945-AFB143B055A3}"/>
              </a:ext>
            </a:extLst>
          </p:cNvPr>
          <p:cNvSpPr/>
          <p:nvPr/>
        </p:nvSpPr>
        <p:spPr>
          <a:xfrm>
            <a:off x="7428548" y="4030133"/>
            <a:ext cx="226814" cy="106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079D008-CA2F-78F3-E634-BCCF5228C785}"/>
              </a:ext>
            </a:extLst>
          </p:cNvPr>
          <p:cNvSpPr/>
          <p:nvPr/>
        </p:nvSpPr>
        <p:spPr>
          <a:xfrm>
            <a:off x="7344608" y="4463952"/>
            <a:ext cx="4640245" cy="6268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DBC5DC6-7381-C0F3-4E70-8CBE678904E3}"/>
              </a:ext>
            </a:extLst>
          </p:cNvPr>
          <p:cNvSpPr/>
          <p:nvPr/>
        </p:nvSpPr>
        <p:spPr>
          <a:xfrm>
            <a:off x="7344608" y="4598404"/>
            <a:ext cx="29279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Deployment</a:t>
            </a:r>
            <a:endParaRPr lang="en-US" sz="22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B58F6CB-05B7-99DE-2061-6D596C165A29}"/>
              </a:ext>
            </a:extLst>
          </p:cNvPr>
          <p:cNvSpPr/>
          <p:nvPr/>
        </p:nvSpPr>
        <p:spPr>
          <a:xfrm>
            <a:off x="7344608" y="5002813"/>
            <a:ext cx="464024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production-ready, serverless that scales seamlessly and maintains high availability across platforms.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77222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512EB-0197-C204-49D2-7295BB080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i="0" u="none" strike="noStrike" baseline="0" dirty="0">
                <a:latin typeface="OpenSauceOne-Regular"/>
              </a:rPr>
              <a:t>Why </a:t>
            </a:r>
            <a:r>
              <a:rPr lang="en-IN" sz="4400" b="1" i="0" u="none" strike="noStrike" baseline="0" dirty="0" err="1">
                <a:latin typeface="OpenSauceOne-Regular"/>
              </a:rPr>
              <a:t>Agrownex</a:t>
            </a:r>
            <a:r>
              <a:rPr lang="en-IN" sz="4400" b="1" i="0" u="none" strike="noStrike" baseline="0" dirty="0">
                <a:latin typeface="OpenSauceOne-Regular"/>
              </a:rPr>
              <a:t> matters?</a:t>
            </a:r>
            <a:endParaRPr lang="en-IN" b="1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4C1DBB4-7440-B97F-4948-E403B3411A80}"/>
              </a:ext>
            </a:extLst>
          </p:cNvPr>
          <p:cNvSpPr/>
          <p:nvPr/>
        </p:nvSpPr>
        <p:spPr>
          <a:xfrm>
            <a:off x="1007679" y="1491517"/>
            <a:ext cx="2551516" cy="4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Climate Uncertainty</a:t>
            </a:r>
            <a:endParaRPr lang="en-US" sz="28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E6DE9E3-C5D4-91BD-268A-35B328E866CC}"/>
              </a:ext>
            </a:extLst>
          </p:cNvPr>
          <p:cNvSpPr/>
          <p:nvPr/>
        </p:nvSpPr>
        <p:spPr>
          <a:xfrm>
            <a:off x="1007679" y="1973918"/>
            <a:ext cx="319587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Unpredictable weather patterns increasingly threaten crop yields and farmer livelihoods, making traditional insurance inadequate.</a:t>
            </a:r>
            <a:endParaRPr lang="en-US" sz="2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F733D1C-7478-B996-7287-0E901B6B72D6}"/>
              </a:ext>
            </a:extLst>
          </p:cNvPr>
          <p:cNvSpPr/>
          <p:nvPr/>
        </p:nvSpPr>
        <p:spPr>
          <a:xfrm>
            <a:off x="7751861" y="1518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Innovation</a:t>
            </a:r>
            <a:endParaRPr lang="en-US" sz="28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A0CAFA5-CA49-C647-0CD1-1FBD6A1E545B}"/>
              </a:ext>
            </a:extLst>
          </p:cNvPr>
          <p:cNvSpPr/>
          <p:nvPr/>
        </p:nvSpPr>
        <p:spPr>
          <a:xfrm>
            <a:off x="7751861" y="1892385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AI can now provide instant, personalized insurance guidance, democratizing access to expert advice.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C08668A-3512-C922-B415-9F39499F6B59}"/>
              </a:ext>
            </a:extLst>
          </p:cNvPr>
          <p:cNvSpPr/>
          <p:nvPr/>
        </p:nvSpPr>
        <p:spPr>
          <a:xfrm>
            <a:off x="4203555" y="48866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Data</a:t>
            </a:r>
            <a:endParaRPr lang="en-US" sz="28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1B0EF04-FD67-0B93-090D-9C5A1B68531C}"/>
              </a:ext>
            </a:extLst>
          </p:cNvPr>
          <p:cNvSpPr/>
          <p:nvPr/>
        </p:nvSpPr>
        <p:spPr>
          <a:xfrm>
            <a:off x="2552223" y="5422727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APIs deliver hyperlocal weather forecasts and climate analytics, enabling precise risk assessment.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887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ADCD-AD7B-359B-9AD1-3F21A3B8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i="0" u="none" strike="noStrike" baseline="0" dirty="0">
                <a:latin typeface="OpenSauceOne-Regular"/>
              </a:rPr>
              <a:t>Tools and Technologies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1C233-C980-717C-A066-7022386C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93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Technologies</a:t>
            </a:r>
            <a:endParaRPr lang="en-US" sz="2800" dirty="0"/>
          </a:p>
          <a:p>
            <a:r>
              <a:rPr lang="en-US" sz="2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</a:t>
            </a:r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Modern component architecture</a:t>
            </a:r>
            <a:endParaRPr lang="en-US" sz="2800" dirty="0"/>
          </a:p>
          <a:p>
            <a:r>
              <a:rPr lang="en-US" sz="2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Type-safe development</a:t>
            </a:r>
            <a:endParaRPr lang="en-US" sz="2800" dirty="0"/>
          </a:p>
          <a:p>
            <a:r>
              <a:rPr lang="en-US" sz="280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</a:t>
            </a:r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Fast build tooling</a:t>
            </a:r>
            <a:endParaRPr lang="en-US" sz="2800" dirty="0"/>
          </a:p>
          <a:p>
            <a:r>
              <a:rPr lang="en-US" sz="280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TailwindCSS</a:t>
            </a:r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Utility-first styling</a:t>
            </a:r>
            <a:endParaRPr lang="en-US" sz="2800" dirty="0"/>
          </a:p>
          <a:p>
            <a:r>
              <a:rPr lang="en-US" sz="280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TanStack</a:t>
            </a:r>
            <a:r>
              <a:rPr lang="en-US" sz="2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</a:t>
            </a:r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Powerful data fetching</a:t>
            </a:r>
            <a:endParaRPr lang="en-US" sz="2800" dirty="0"/>
          </a:p>
          <a:p>
            <a:r>
              <a:rPr lang="en-US" sz="2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Recharts</a:t>
            </a:r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Interactive visualizations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E083C7-6FFF-C492-BC9E-745129299942}"/>
              </a:ext>
            </a:extLst>
          </p:cNvPr>
          <p:cNvSpPr txBox="1"/>
          <p:nvPr/>
        </p:nvSpPr>
        <p:spPr>
          <a:xfrm>
            <a:off x="6753225" y="1524000"/>
            <a:ext cx="509587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&amp; Integration: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Scikit-learn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X-</a:t>
            </a:r>
            <a:r>
              <a:rPr lang="en-US" sz="2800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Gboost</a:t>
            </a:r>
            <a:r>
              <a:rPr lang="en-US" sz="28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library(Boosting)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Random Forest Library(Bagging)</a:t>
            </a:r>
            <a:endParaRPr lang="en-IN" sz="2800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Ensemble(Stacking and Voting)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Datasets(CSV format)</a:t>
            </a:r>
          </a:p>
          <a:p>
            <a:endParaRPr lang="en-US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024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F148-2502-33CD-0638-AB338A8BC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Modules</a:t>
            </a:r>
            <a:endParaRPr lang="en-US" sz="4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659A934-DCBB-2023-90A1-000A596BC3DE}"/>
              </a:ext>
            </a:extLst>
          </p:cNvPr>
          <p:cNvSpPr/>
          <p:nvPr/>
        </p:nvSpPr>
        <p:spPr>
          <a:xfrm>
            <a:off x="838200" y="1513523"/>
            <a:ext cx="36673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1.Weather Analytics Module</a:t>
            </a:r>
            <a:endParaRPr lang="en-US" sz="2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ACA3753-9C7A-207F-6053-D90254A4ED5D}"/>
              </a:ext>
            </a:extLst>
          </p:cNvPr>
          <p:cNvSpPr/>
          <p:nvPr/>
        </p:nvSpPr>
        <p:spPr>
          <a:xfrm>
            <a:off x="838200" y="1867853"/>
            <a:ext cx="2921000" cy="291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geolocation-based forecasts, 6-month climatology averages, and interactive charts. Users can search locations or use GPS for hyperlocal weather insights.</a:t>
            </a:r>
            <a:endParaRPr lang="en-US" sz="17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0E5CCC8-FE61-2D3D-93EA-E1BA7C109153}"/>
              </a:ext>
            </a:extLst>
          </p:cNvPr>
          <p:cNvSpPr/>
          <p:nvPr/>
        </p:nvSpPr>
        <p:spPr>
          <a:xfrm>
            <a:off x="4952405" y="15135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2.AI Assistant Module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D66B55A-27D6-482E-6B46-88B0292F2AB0}"/>
              </a:ext>
            </a:extLst>
          </p:cNvPr>
          <p:cNvSpPr/>
          <p:nvPr/>
        </p:nvSpPr>
        <p:spPr>
          <a:xfrm>
            <a:off x="4960581" y="1887040"/>
            <a:ext cx="23013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chat interface with voice and text input modes, powered by Gemini AI. Includes model fallback logic and streaming responses for seamless interaction.</a:t>
            </a:r>
            <a:endParaRPr lang="en-US" sz="1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7EE7F41-A874-525E-E003-3129A1A858D8}"/>
              </a:ext>
            </a:extLst>
          </p:cNvPr>
          <p:cNvSpPr/>
          <p:nvPr/>
        </p:nvSpPr>
        <p:spPr>
          <a:xfrm>
            <a:off x="8800147" y="1513523"/>
            <a:ext cx="33918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3.Insurance Quote Module</a:t>
            </a:r>
            <a:endParaRPr lang="en-US" sz="2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190A15B-7E9F-A0A0-541B-647034B44E31}"/>
              </a:ext>
            </a:extLst>
          </p:cNvPr>
          <p:cNvSpPr/>
          <p:nvPr/>
        </p:nvSpPr>
        <p:spPr>
          <a:xfrm>
            <a:off x="8800148" y="1887040"/>
            <a:ext cx="269886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Calculates dynamic insurance quotes by integrating weather risk data with agricultural parameters, providing instant, transparent pricing for farmers.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10181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6D4F-39BC-37D4-060A-62FB6D91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u="none" strike="noStrike" baseline="0" dirty="0">
                <a:latin typeface="OpenSauceOne-Regular"/>
              </a:rPr>
              <a:t>Challenges and Next Steps</a:t>
            </a:r>
            <a:br>
              <a:rPr lang="en-US" sz="4400" b="1" i="0" u="none" strike="noStrike" baseline="0" dirty="0">
                <a:latin typeface="OpenSauceOne-Regular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D4616-B695-9C58-8DD9-EC154BCAC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358"/>
            <a:ext cx="10515600" cy="47536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insurance models fail to account for real-time weather patterns and climate variability. Farmers need intelligent, data-driven solutions that understand their unique risk profiles and provide instant guidance when they need it most.</a:t>
            </a:r>
          </a:p>
          <a:p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weather-aware insurance products.</a:t>
            </a:r>
          </a:p>
          <a:p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risk assessment and quote generation.</a:t>
            </a:r>
            <a:endParaRPr lang="en-US" sz="2800" dirty="0"/>
          </a:p>
          <a:p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accessible expert guidance.</a:t>
            </a:r>
            <a:endParaRPr lang="en-US" sz="2800" dirty="0"/>
          </a:p>
          <a:p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integration of climate data in underwriting.</a:t>
            </a:r>
            <a:endParaRPr lang="en-US" sz="2800" dirty="0"/>
          </a:p>
          <a:p>
            <a:pPr marL="0" indent="0">
              <a:buNone/>
            </a:pPr>
            <a:r>
              <a:rPr lang="en-IN" sz="2800" dirty="0"/>
              <a:t>At last </a:t>
            </a:r>
            <a:r>
              <a:rPr lang="en-IN" sz="2800" dirty="0" err="1"/>
              <a:t>Agrownex</a:t>
            </a:r>
            <a:r>
              <a:rPr lang="en-IN" sz="2800" dirty="0"/>
              <a:t> can be a</a:t>
            </a:r>
            <a:r>
              <a:rPr lang="en-IN" dirty="0"/>
              <a:t>n </a:t>
            </a:r>
            <a:r>
              <a:rPr lang="en-IN" dirty="0" err="1"/>
              <a:t>onestop</a:t>
            </a:r>
            <a:r>
              <a:rPr lang="en-IN" dirty="0"/>
              <a:t> solution for the farmers or the agents who are associated with weather insurance.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755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A96D-5B5F-13FF-D73F-4456B8B1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SauceOne-Regular"/>
              </a:rPr>
              <a:t>W</a:t>
            </a:r>
            <a:r>
              <a:rPr lang="en-US" sz="4400" b="1" i="0" u="none" strike="noStrike" baseline="0" dirty="0">
                <a:latin typeface="OpenSauceOne-Regular"/>
              </a:rPr>
              <a:t>orkflow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04843-3AF9-BAF0-2FE9-A56F59C35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637" y="1406106"/>
            <a:ext cx="4872905" cy="4520241"/>
          </a:xfrm>
        </p:spPr>
      </p:pic>
    </p:spTree>
    <p:extLst>
      <p:ext uri="{BB962C8B-B14F-4D97-AF65-F5344CB8AC3E}">
        <p14:creationId xmlns:p14="http://schemas.microsoft.com/office/powerpoint/2010/main" val="174954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7DE8-907D-A18B-120F-84C6F2B4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SauceOne-Regular"/>
              </a:rPr>
              <a:t>Implementations of </a:t>
            </a:r>
            <a:r>
              <a:rPr lang="en-US" b="1" dirty="0" err="1">
                <a:latin typeface="OpenSauceOne-Regular"/>
              </a:rPr>
              <a:t>Agrownex</a:t>
            </a:r>
            <a:r>
              <a:rPr lang="en-US" b="1" dirty="0">
                <a:latin typeface="OpenSauceOne-Regular"/>
              </a:rPr>
              <a:t>(Initial Phase)</a:t>
            </a:r>
            <a:br>
              <a:rPr lang="en-US" sz="4400" b="1" i="0" u="none" strike="noStrike" baseline="0" dirty="0">
                <a:latin typeface="OpenSauceOne-Regular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2A7A9-E5C4-A719-054F-DF3BC115C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789"/>
            <a:ext cx="10515600" cy="47331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Homepage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7B0D5-9EE8-5F16-FBBA-11D6D6097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050182"/>
            <a:ext cx="11059428" cy="444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75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8AB15-5E1E-480E-A54E-DD5CC4F67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272" y="442762"/>
            <a:ext cx="10564528" cy="57342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Ai Assistant page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B518E8-F68B-8271-8704-15DE52459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34372"/>
            <a:ext cx="10353575" cy="538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40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CA94-F429-5D85-5305-446C7CF6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b="1" dirty="0"/>
              <a:t>Weather Analytics Dashboard</a:t>
            </a:r>
            <a:endParaRPr lang="en-IN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A6087-D0A6-3F4C-A95B-53C76D213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86FE2F-F6AF-34AC-A3C3-3EF39370A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4679"/>
            <a:ext cx="10923872" cy="509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8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2F86C-E980-28E7-9A20-A95F00A8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3" y="552274"/>
            <a:ext cx="10651156" cy="57534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Become an Agent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0A500-AFA7-A673-910F-2A57EA52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1511165"/>
            <a:ext cx="10845210" cy="437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64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1583D-A2FB-BF42-5111-FEBBCA6E3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95" y="433137"/>
            <a:ext cx="10631905" cy="574382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Products(Insurance)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8EB1E-5173-3D7B-3E97-F53D686FF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019451"/>
            <a:ext cx="10808369" cy="561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86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A313-7758-DB74-9D05-DE66E148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b="1" dirty="0"/>
              <a:t>Quote Feature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A5539C-21CE-6C2B-C52C-4230D7763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817" y="1463674"/>
            <a:ext cx="9445961" cy="4788911"/>
          </a:xfrm>
        </p:spPr>
      </p:pic>
    </p:spTree>
    <p:extLst>
      <p:ext uri="{BB962C8B-B14F-4D97-AF65-F5344CB8AC3E}">
        <p14:creationId xmlns:p14="http://schemas.microsoft.com/office/powerpoint/2010/main" val="1146291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6D23-C998-5980-C3EA-2F03D9AC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b="1" dirty="0"/>
              <a:t>Solutions(Market Situations)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2BEEFC-5618-EB7D-9FD1-DDEA002A1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1330"/>
            <a:ext cx="10515600" cy="4876670"/>
          </a:xfrm>
        </p:spPr>
      </p:pic>
    </p:spTree>
    <p:extLst>
      <p:ext uri="{BB962C8B-B14F-4D97-AF65-F5344CB8AC3E}">
        <p14:creationId xmlns:p14="http://schemas.microsoft.com/office/powerpoint/2010/main" val="1179621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719E-6EAD-6060-88F8-0FBE7F87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b="1" dirty="0"/>
              <a:t>Datasets: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B50A7-B837-5A77-3818-E6334D8FE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7"/>
            <a:ext cx="4364736" cy="357092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800" b="1" dirty="0"/>
              <a:t>Dataset 1:</a:t>
            </a:r>
            <a:r>
              <a:rPr lang="en-IN" sz="1800" dirty="0"/>
              <a:t> Coverage-level crop data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Year &amp; Season (Kharif/Rabi)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Scheme (PMFBY)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State &amp; District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Crop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Sum Insured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Premium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Farmer Share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State Share &amp; GOI Share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Insurance Company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F6912-C7CA-689D-A34A-2B067F8F0C8A}"/>
              </a:ext>
            </a:extLst>
          </p:cNvPr>
          <p:cNvSpPr txBox="1"/>
          <p:nvPr/>
        </p:nvSpPr>
        <p:spPr>
          <a:xfrm>
            <a:off x="6254496" y="3151188"/>
            <a:ext cx="490118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What this dataset is 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Understanding </a:t>
            </a:r>
            <a:r>
              <a:rPr lang="en-US" b="1" dirty="0"/>
              <a:t>crop insurance coverage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Risk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Insurance premium subsidies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Crop-wise and state-wise analysis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2065A-3B5B-5B84-3738-7922A4381C09}"/>
              </a:ext>
            </a:extLst>
          </p:cNvPr>
          <p:cNvSpPr txBox="1"/>
          <p:nvPr/>
        </p:nvSpPr>
        <p:spPr>
          <a:xfrm>
            <a:off x="1316736" y="1690688"/>
            <a:ext cx="983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800" b="1"/>
              <a:t>PMFBY (Pradhan Mantri Fasal Bima Yojana)</a:t>
            </a:r>
            <a:r>
              <a:rPr lang="en-IN" sz="1800"/>
              <a:t> datasets, trends, charts, and insights using three datasets: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46619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069F3-0EF4-D704-99A2-41E2FE252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b="1" dirty="0"/>
              <a:t>Datasets: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64FF8-39C4-7BB4-CDA0-547F6AE31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2288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/>
              <a:t>Dataset 2:</a:t>
            </a:r>
            <a:r>
              <a:rPr lang="en-IN" sz="2800" dirty="0"/>
              <a:t> District-level statistics</a:t>
            </a:r>
          </a:p>
          <a:p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DE69058-CAA7-0D74-8BB9-3BA255FEA4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2432179"/>
            <a:ext cx="334975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farmers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Loanee vs Non-Loanee farmers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 insured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 insured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Farmer/government share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Gender-wise breakdown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(SC/ST/OBC/GEN)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 types (small/marginal/etc.)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5F8CE-57C2-3282-5422-190257B263CB}"/>
              </a:ext>
            </a:extLst>
          </p:cNvPr>
          <p:cNvSpPr txBox="1"/>
          <p:nvPr/>
        </p:nvSpPr>
        <p:spPr>
          <a:xfrm>
            <a:off x="6720840" y="3008251"/>
            <a:ext cx="5111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What this dataset is used for: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understand </a:t>
            </a:r>
            <a:r>
              <a:rPr lang="en-US" b="1" dirty="0"/>
              <a:t>farmers’ participation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compare districts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analyze gender and caste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calculate premium shares</a:t>
            </a:r>
          </a:p>
        </p:txBody>
      </p:sp>
    </p:spTree>
    <p:extLst>
      <p:ext uri="{BB962C8B-B14F-4D97-AF65-F5344CB8AC3E}">
        <p14:creationId xmlns:p14="http://schemas.microsoft.com/office/powerpoint/2010/main" val="122201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982F-B9DA-5BFB-D796-DD0A1C65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b="1" dirty="0"/>
              <a:t>Datasets: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E4927-D897-8E2D-4645-67443DA9D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9528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/>
              <a:t>Dataset 3:</a:t>
            </a:r>
            <a:r>
              <a:rPr lang="en-IN" sz="2800" dirty="0"/>
              <a:t> Time-series crop production table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069277-9FD1-0E91-BDFE-91DC2254FE4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2804752"/>
            <a:ext cx="30998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Ministry of Agriculture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 (in lakh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tonnes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Year-wise production estimation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C14D7-D837-C964-60FB-4899FDC6EC4A}"/>
              </a:ext>
            </a:extLst>
          </p:cNvPr>
          <p:cNvSpPr txBox="1"/>
          <p:nvPr/>
        </p:nvSpPr>
        <p:spPr>
          <a:xfrm>
            <a:off x="7040880" y="2661126"/>
            <a:ext cx="349300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What this dataset is used for: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Study production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crops across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Forecast risks</a:t>
            </a:r>
          </a:p>
        </p:txBody>
      </p:sp>
    </p:spTree>
    <p:extLst>
      <p:ext uri="{BB962C8B-B14F-4D97-AF65-F5344CB8AC3E}">
        <p14:creationId xmlns:p14="http://schemas.microsoft.com/office/powerpoint/2010/main" val="3123440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D385E-5283-E909-0D29-47E84E2B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b="1" dirty="0"/>
              <a:t>Models:(</a:t>
            </a:r>
            <a:r>
              <a:rPr lang="en-IN" sz="2800" b="1" dirty="0"/>
              <a:t>Why Random Forest &amp; </a:t>
            </a:r>
            <a:r>
              <a:rPr lang="en-IN" sz="2800" b="1" dirty="0" err="1"/>
              <a:t>XGBoost</a:t>
            </a:r>
            <a:r>
              <a:rPr lang="en-IN" sz="2800" b="1" dirty="0"/>
              <a:t>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5F2BC-AF51-AD73-8671-36CB9298D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 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Handles tabular data well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Good baseline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Reduces variance via bagging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to interpret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 err="1"/>
              <a:t>XGBoost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Boosting technique is strong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Handles missing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Built-in regularization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Usually gives state-of-the-art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415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77D0-4AAA-3CE9-7D9C-7A9B3C647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/>
              <a:t>Evaluation of the model and comparison: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36AF4E-D701-0715-D96E-D8E4EBDCF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4330"/>
            <a:ext cx="5081335" cy="437295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296004-A85C-84FA-516E-EAD3EA7CF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466" y="1690689"/>
            <a:ext cx="5653236" cy="42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60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09F2-6F3D-ED46-2055-8CC418EF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b="1" dirty="0"/>
              <a:t>Accuracy of the model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E91B68-B65F-4A70-0019-04129DC5B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2386" y="1296053"/>
            <a:ext cx="5928360" cy="3597902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EA1C4F-3ED2-7918-8288-9564FD91A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36" y="4967959"/>
            <a:ext cx="7836409" cy="140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09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FA66-F3E0-4364-D8E4-7BC77A9D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OpenSauceOne-Regular"/>
              </a:rPr>
              <a:t>Market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C7CE-ACF9-BB9B-9E81-8C507884D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Government-led insurance (PMFBY etc.)</a:t>
            </a:r>
          </a:p>
          <a:p>
            <a:r>
              <a:rPr lang="en-IN" dirty="0"/>
              <a:t>Bajaj </a:t>
            </a:r>
            <a:r>
              <a:rPr lang="en-IN" dirty="0" err="1"/>
              <a:t>Allians</a:t>
            </a:r>
            <a:endParaRPr lang="en-IN" dirty="0"/>
          </a:p>
          <a:p>
            <a:r>
              <a:rPr lang="en-IN" dirty="0"/>
              <a:t>ICICI Lombard</a:t>
            </a:r>
          </a:p>
          <a:p>
            <a:r>
              <a:rPr lang="en-IN" dirty="0"/>
              <a:t>HDFC Ergo</a:t>
            </a:r>
          </a:p>
          <a:p>
            <a:pPr marL="0" indent="0">
              <a:buNone/>
            </a:pPr>
            <a:r>
              <a:rPr lang="en-IN" b="1" dirty="0"/>
              <a:t>Private MNC’s</a:t>
            </a:r>
          </a:p>
          <a:p>
            <a:r>
              <a:rPr lang="en-IN" dirty="0" err="1"/>
              <a:t>Nurture.farm</a:t>
            </a:r>
            <a:endParaRPr lang="en-IN" dirty="0"/>
          </a:p>
          <a:p>
            <a:r>
              <a:rPr lang="en-IN" dirty="0" err="1"/>
              <a:t>Gramcover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215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DE4A8-D233-0E0B-9901-8ED35B14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491D0-BAB2-09CF-3E92-D91EBE8D1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Where </a:t>
            </a:r>
            <a:r>
              <a:rPr lang="en-US" b="1" dirty="0" err="1"/>
              <a:t>Agrownex</a:t>
            </a:r>
            <a:r>
              <a:rPr lang="en-US" b="1" dirty="0"/>
              <a:t> Can Position Well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Offering </a:t>
            </a:r>
            <a:r>
              <a:rPr lang="en-US" b="1" dirty="0"/>
              <a:t>real-time weather analytics + forecasts + risk scoring</a:t>
            </a:r>
            <a:r>
              <a:rPr lang="en-US" dirty="0"/>
              <a:t> (e.g. for drought, flood, pests) so farmers can </a:t>
            </a:r>
            <a:r>
              <a:rPr lang="en-US" b="1" dirty="0"/>
              <a:t>anticipate risk</a:t>
            </a:r>
            <a:r>
              <a:rPr lang="en-US" dirty="0"/>
              <a:t>, not just recover after loss.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Integrating a </a:t>
            </a:r>
            <a:r>
              <a:rPr lang="en-US" b="1" dirty="0"/>
              <a:t>user-friendly AI assistant</a:t>
            </a:r>
            <a:r>
              <a:rPr lang="en-US" dirty="0"/>
              <a:t> (voice + text) that helps farmers understand risks, quote insurance options, possibly claim guidance.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parametric triggers (weather thresholds) to speed up payouts or at least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Ensuring hyperlocal data (weather stations / local inputs) so quotes / risk estimates are precise.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Providing transparent risk &amp; quote breakdown (why premium is what it is, how weather contributes,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/ simpler UX / lower friction compared to government schemes &amp; big insurers.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32684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83BF-FECD-6C1E-9791-491839A4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" y="-70757"/>
            <a:ext cx="12752614" cy="6928757"/>
          </a:xfrm>
        </p:spPr>
        <p:txBody>
          <a:bodyPr/>
          <a:lstStyle/>
          <a:p>
            <a:pPr algn="ctr"/>
            <a:r>
              <a:rPr lang="en-IN" dirty="0"/>
              <a:t>Thank You  </a:t>
            </a:r>
            <a:br>
              <a:rPr lang="en-IN" dirty="0"/>
            </a:br>
            <a:r>
              <a:rPr lang="en-IN" dirty="0"/>
              <a:t>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30478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915</Words>
  <Application>Microsoft Office PowerPoint</Application>
  <PresentationFormat>Widescreen</PresentationFormat>
  <Paragraphs>150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Inter</vt:lpstr>
      <vt:lpstr>Inter Bold</vt:lpstr>
      <vt:lpstr>Inter Light</vt:lpstr>
      <vt:lpstr>OpenSauceOne-Regular</vt:lpstr>
      <vt:lpstr>ui-sans-serif</vt:lpstr>
      <vt:lpstr>Wingdings</vt:lpstr>
      <vt:lpstr>Office Theme</vt:lpstr>
      <vt:lpstr>AGROWNEX-AI System for Next-Gen Weather Insurance Pricing </vt:lpstr>
      <vt:lpstr>Table of contents</vt:lpstr>
      <vt:lpstr>Project Objective</vt:lpstr>
      <vt:lpstr>Why Agrownex matters?</vt:lpstr>
      <vt:lpstr>Tools and Technologies</vt:lpstr>
      <vt:lpstr>Core Modules</vt:lpstr>
      <vt:lpstr>Challenges and Next Steps </vt:lpstr>
      <vt:lpstr>Workflow</vt:lpstr>
      <vt:lpstr>Implementations of Agrownex(Initial Phase) </vt:lpstr>
      <vt:lpstr>PowerPoint Presentation</vt:lpstr>
      <vt:lpstr>Weather Analytics Dashboard</vt:lpstr>
      <vt:lpstr>PowerPoint Presentation</vt:lpstr>
      <vt:lpstr>PowerPoint Presentation</vt:lpstr>
      <vt:lpstr>Quote Feature</vt:lpstr>
      <vt:lpstr>Solutions(Market Situations)</vt:lpstr>
      <vt:lpstr>Datasets:</vt:lpstr>
      <vt:lpstr>Datasets:</vt:lpstr>
      <vt:lpstr>Datasets:</vt:lpstr>
      <vt:lpstr>Models:(Why Random Forest &amp; XGBoost?)</vt:lpstr>
      <vt:lpstr>Evaluation of the model and comparison:</vt:lpstr>
      <vt:lpstr>Accuracy of the model</vt:lpstr>
      <vt:lpstr>Market analysis</vt:lpstr>
      <vt:lpstr>Conclusion</vt:lpstr>
      <vt:lpstr>Thank You   --------------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Alzheimer’s Detection using deep learning model for MRI data</dc:title>
  <dc:creator>Maitri Khandelwal</dc:creator>
  <cp:lastModifiedBy>Shakti Prosad Dey</cp:lastModifiedBy>
  <cp:revision>9</cp:revision>
  <dcterms:created xsi:type="dcterms:W3CDTF">2025-10-08T14:38:23Z</dcterms:created>
  <dcterms:modified xsi:type="dcterms:W3CDTF">2025-11-25T17:41:29Z</dcterms:modified>
</cp:coreProperties>
</file>